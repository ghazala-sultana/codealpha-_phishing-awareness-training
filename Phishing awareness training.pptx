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2" r:id="rId6"/>
    <p:sldId id="258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6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48" autoAdjust="0"/>
  </p:normalViewPr>
  <p:slideViewPr>
    <p:cSldViewPr snapToGrid="0">
      <p:cViewPr varScale="1">
        <p:scale>
          <a:sx n="69" d="100"/>
          <a:sy n="69" d="100"/>
        </p:scale>
        <p:origin x="4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6/6/2026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29075"/>
            <a:ext cx="10993549" cy="895244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5665030"/>
            <a:ext cx="10993546" cy="48482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7CEBFF"/>
                </a:solidFill>
              </a:rPr>
              <a:t>Presented By: Ghazala Sultana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gital Connections">
            <a:extLst>
              <a:ext uri="{FF2B5EF4-FFF2-40B4-BE49-F238E27FC236}">
                <a16:creationId xmlns:a16="http://schemas.microsoft.com/office/drawing/2014/main" id="{C35386B5-F033-5387-CCC9-A7C8F1AA752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429802" y="676723"/>
            <a:ext cx="11332395" cy="20767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060805-6CDD-3044-6249-6521A858BD0C}"/>
              </a:ext>
            </a:extLst>
          </p:cNvPr>
          <p:cNvSpPr txBox="1"/>
          <p:nvPr/>
        </p:nvSpPr>
        <p:spPr>
          <a:xfrm>
            <a:off x="429802" y="3018840"/>
            <a:ext cx="50137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What is Phishing?</a:t>
            </a:r>
          </a:p>
          <a:p>
            <a:pPr marL="342900" indent="-342900">
              <a:buAutoNum type="arabicPeriod"/>
            </a:pPr>
            <a:r>
              <a:rPr lang="en-US" sz="2400" dirty="0"/>
              <a:t>Types of Phishing Attacks</a:t>
            </a:r>
          </a:p>
          <a:p>
            <a:pPr marL="342900" indent="-342900">
              <a:buAutoNum type="arabicPeriod"/>
            </a:pPr>
            <a:r>
              <a:rPr lang="en-US" sz="2400" dirty="0"/>
              <a:t>Recognizing Phishing Emails</a:t>
            </a:r>
          </a:p>
          <a:p>
            <a:pPr marL="342900" indent="-342900">
              <a:buAutoNum type="arabicPeriod"/>
            </a:pPr>
            <a:r>
              <a:rPr lang="en-US" sz="2400" dirty="0"/>
              <a:t>Identifying Fake Websites</a:t>
            </a:r>
          </a:p>
          <a:p>
            <a:pPr marL="342900" indent="-342900">
              <a:buAutoNum type="arabicPeriod"/>
            </a:pPr>
            <a:r>
              <a:rPr lang="en-US" sz="2400" dirty="0"/>
              <a:t>Social Engineering Tactics</a:t>
            </a:r>
          </a:p>
          <a:p>
            <a:pPr marL="342900" indent="-342900">
              <a:buAutoNum type="arabicPeriod"/>
            </a:pPr>
            <a:r>
              <a:rPr lang="en-US" sz="2400" dirty="0"/>
              <a:t>Real-World Examples</a:t>
            </a:r>
          </a:p>
          <a:p>
            <a:pPr marL="342900" indent="-342900">
              <a:buAutoNum type="arabicPeriod"/>
            </a:pPr>
            <a:r>
              <a:rPr lang="en-US" sz="2400" dirty="0"/>
              <a:t>Prevention Tips</a:t>
            </a:r>
          </a:p>
          <a:p>
            <a:pPr marL="342900" indent="-342900">
              <a:buAutoNum type="arabicPeriod"/>
            </a:pPr>
            <a:r>
              <a:rPr lang="en-US" sz="2400" dirty="0"/>
              <a:t>What to Do If You Are Attacked</a:t>
            </a:r>
            <a:endParaRPr lang="en-PK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31558A-04CC-2B56-ADBF-2F0F7D1EED30}"/>
              </a:ext>
            </a:extLst>
          </p:cNvPr>
          <p:cNvSpPr txBox="1"/>
          <p:nvPr/>
        </p:nvSpPr>
        <p:spPr>
          <a:xfrm>
            <a:off x="527405" y="1140418"/>
            <a:ext cx="3099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075540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Phishing?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B7C0CE-463E-CD57-E434-A0FA7D153D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91407" y="2309841"/>
            <a:ext cx="5122142" cy="3571392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916E29-8AE7-B6C4-1AEA-956AAEDEB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2248186"/>
            <a:ext cx="5422392" cy="3633047"/>
          </a:xfrm>
        </p:spPr>
        <p:txBody>
          <a:bodyPr/>
          <a:lstStyle/>
          <a:p>
            <a:r>
              <a:rPr lang="en-US" b="1" dirty="0"/>
              <a:t>Phishing</a:t>
            </a:r>
            <a:r>
              <a:rPr lang="en-US" sz="2000" b="1" dirty="0"/>
              <a:t> </a:t>
            </a:r>
            <a:r>
              <a:rPr lang="en-US" dirty="0"/>
              <a:t>is a cybercrime where attackers pretend to be trusted people or companies to trick users into sharing sensitive information</a:t>
            </a:r>
          </a:p>
          <a:p>
            <a:r>
              <a:rPr lang="en-US" b="1" dirty="0"/>
              <a:t>Example: </a:t>
            </a:r>
          </a:p>
          <a:p>
            <a:r>
              <a:rPr lang="en-US" dirty="0"/>
              <a:t> Fake bank emails</a:t>
            </a:r>
          </a:p>
          <a:p>
            <a:r>
              <a:rPr lang="en-US" dirty="0"/>
              <a:t>Fake social media login pages</a:t>
            </a:r>
          </a:p>
          <a:p>
            <a:r>
              <a:rPr lang="en-US" dirty="0"/>
              <a:t>Fake prize-wining messages</a:t>
            </a:r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BD8FD-4058-3596-8177-A8A27439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D253-3D66-972C-99B3-F4B09327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0782"/>
            <a:ext cx="11029616" cy="988332"/>
          </a:xfrm>
        </p:spPr>
        <p:txBody>
          <a:bodyPr/>
          <a:lstStyle/>
          <a:p>
            <a:r>
              <a:rPr lang="en-US" dirty="0"/>
              <a:t>Why Do Attackers Use Phishing?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6E71AE-C819-3014-0ADC-17CF6852F3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91407" y="2309841"/>
            <a:ext cx="5122142" cy="3571392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80C18D-3B76-0521-DF6E-8CEC7F739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2248186"/>
            <a:ext cx="5422392" cy="3633047"/>
          </a:xfrm>
        </p:spPr>
        <p:txBody>
          <a:bodyPr/>
          <a:lstStyle/>
          <a:p>
            <a:r>
              <a:rPr lang="en-US" b="1" dirty="0"/>
              <a:t>Attackers use phishing to steal:</a:t>
            </a:r>
          </a:p>
          <a:p>
            <a:r>
              <a:rPr lang="en-US" dirty="0"/>
              <a:t>Passwords</a:t>
            </a:r>
          </a:p>
          <a:p>
            <a:r>
              <a:rPr lang="en-US" dirty="0"/>
              <a:t>Credit Card Information</a:t>
            </a:r>
          </a:p>
          <a:p>
            <a:r>
              <a:rPr lang="en-US" dirty="0"/>
              <a:t>Bank account details</a:t>
            </a:r>
          </a:p>
          <a:p>
            <a:r>
              <a:rPr lang="en-US" dirty="0"/>
              <a:t>Personal information</a:t>
            </a:r>
          </a:p>
          <a:p>
            <a:r>
              <a:rPr lang="en-US" b="1" dirty="0"/>
              <a:t>Goal:</a:t>
            </a:r>
          </a:p>
          <a:p>
            <a:r>
              <a:rPr lang="en-US" dirty="0"/>
              <a:t>To gain money , access account, or commit identity theft.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1191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11C71-B850-408A-4F14-C9007F8E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gital Connections">
            <a:extLst>
              <a:ext uri="{FF2B5EF4-FFF2-40B4-BE49-F238E27FC236}">
                <a16:creationId xmlns:a16="http://schemas.microsoft.com/office/drawing/2014/main" id="{72F146F0-A8E5-3DFA-E25A-1549FC07BAF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606176" y="746954"/>
            <a:ext cx="11332395" cy="20767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7EA791-34EB-7224-144B-306A3B5DDDC2}"/>
              </a:ext>
            </a:extLst>
          </p:cNvPr>
          <p:cNvSpPr txBox="1"/>
          <p:nvPr/>
        </p:nvSpPr>
        <p:spPr>
          <a:xfrm>
            <a:off x="3075396" y="942088"/>
            <a:ext cx="4178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Email Phishing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5077A-F8AC-91DE-F9CE-41E6E398A219}"/>
              </a:ext>
            </a:extLst>
          </p:cNvPr>
          <p:cNvSpPr txBox="1"/>
          <p:nvPr/>
        </p:nvSpPr>
        <p:spPr>
          <a:xfrm>
            <a:off x="868167" y="3674774"/>
            <a:ext cx="54042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Email phishing </a:t>
            </a:r>
            <a:r>
              <a:rPr lang="en-US" dirty="0"/>
              <a:t>is the most common type of phishing attack.</a:t>
            </a:r>
          </a:p>
          <a:p>
            <a:r>
              <a:rPr lang="en-US" b="1" dirty="0"/>
              <a:t>How it works:</a:t>
            </a:r>
          </a:p>
          <a:p>
            <a:r>
              <a:rPr lang="en-US" dirty="0"/>
              <a:t>A fake email is sent.</a:t>
            </a:r>
          </a:p>
          <a:p>
            <a:r>
              <a:rPr lang="en-US" dirty="0"/>
              <a:t>The email appear to come from a trusted source.</a:t>
            </a:r>
          </a:p>
          <a:p>
            <a:r>
              <a:rPr lang="en-US" dirty="0"/>
              <a:t>The victim clicks a malicious link.</a:t>
            </a:r>
          </a:p>
          <a:p>
            <a:endParaRPr lang="en-P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ECA8B1-4EAC-F2A5-DECE-3A7E72F35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555" y="3147461"/>
            <a:ext cx="4613727" cy="321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0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F6A79C-1EA7-5C04-477C-8060F6D61F89}"/>
              </a:ext>
            </a:extLst>
          </p:cNvPr>
          <p:cNvSpPr/>
          <p:nvPr/>
        </p:nvSpPr>
        <p:spPr>
          <a:xfrm>
            <a:off x="857421" y="2531444"/>
            <a:ext cx="336112" cy="3952104"/>
          </a:xfrm>
          <a:prstGeom prst="roundRect">
            <a:avLst>
              <a:gd name="adj" fmla="val 195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186741E4-59E6-452F-F5F5-9DA700B38699}"/>
              </a:ext>
            </a:extLst>
          </p:cNvPr>
          <p:cNvSpPr/>
          <p:nvPr/>
        </p:nvSpPr>
        <p:spPr>
          <a:xfrm>
            <a:off x="935561" y="5723152"/>
            <a:ext cx="4027746" cy="76039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whaling</a:t>
            </a:r>
            <a:endParaRPr lang="en-PK" dirty="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BA8E9FF-251A-0DE2-8494-890E5927BC5C}"/>
              </a:ext>
            </a:extLst>
          </p:cNvPr>
          <p:cNvSpPr/>
          <p:nvPr/>
        </p:nvSpPr>
        <p:spPr>
          <a:xfrm>
            <a:off x="1009517" y="4611314"/>
            <a:ext cx="3907287" cy="76039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vishing</a:t>
            </a:r>
            <a:endParaRPr lang="en-PK" dirty="0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806417C-E3B4-4C3E-704A-C2529FBB981C}"/>
              </a:ext>
            </a:extLst>
          </p:cNvPr>
          <p:cNvSpPr/>
          <p:nvPr/>
        </p:nvSpPr>
        <p:spPr>
          <a:xfrm>
            <a:off x="1009517" y="3499476"/>
            <a:ext cx="3907287" cy="76039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Smishing</a:t>
            </a:r>
            <a:endParaRPr lang="en-PK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EF1A8A0-55C2-AA67-429D-7CDF6E510157}"/>
              </a:ext>
            </a:extLst>
          </p:cNvPr>
          <p:cNvSpPr/>
          <p:nvPr/>
        </p:nvSpPr>
        <p:spPr>
          <a:xfrm>
            <a:off x="1009517" y="2449630"/>
            <a:ext cx="3879834" cy="76039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Spear phishing</a:t>
            </a:r>
            <a:endParaRPr lang="en-P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C82AB-C7DE-482E-3574-665CBC56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29658"/>
            <a:ext cx="11029616" cy="988332"/>
          </a:xfrm>
        </p:spPr>
        <p:txBody>
          <a:bodyPr/>
          <a:lstStyle/>
          <a:p>
            <a:r>
              <a:rPr lang="en-US" dirty="0"/>
              <a:t>Other types of phishing</a:t>
            </a:r>
            <a:endParaRPr lang="en-PK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884F58-92C5-463D-721C-D844857FA1CB}"/>
              </a:ext>
            </a:extLst>
          </p:cNvPr>
          <p:cNvSpPr/>
          <p:nvPr/>
        </p:nvSpPr>
        <p:spPr>
          <a:xfrm>
            <a:off x="624505" y="5750026"/>
            <a:ext cx="750488" cy="7566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3EF6F6A-839C-5827-B23D-4EE549A09457}"/>
              </a:ext>
            </a:extLst>
          </p:cNvPr>
          <p:cNvSpPr/>
          <p:nvPr/>
        </p:nvSpPr>
        <p:spPr>
          <a:xfrm>
            <a:off x="624505" y="4623662"/>
            <a:ext cx="750488" cy="7566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38AE9C6-A7DB-5514-58C8-BE649631668F}"/>
              </a:ext>
            </a:extLst>
          </p:cNvPr>
          <p:cNvSpPr/>
          <p:nvPr/>
        </p:nvSpPr>
        <p:spPr>
          <a:xfrm>
            <a:off x="624505" y="3501062"/>
            <a:ext cx="750488" cy="7566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1F54C7E-18C1-9B95-F9FD-A0D13A091323}"/>
              </a:ext>
            </a:extLst>
          </p:cNvPr>
          <p:cNvSpPr/>
          <p:nvPr/>
        </p:nvSpPr>
        <p:spPr>
          <a:xfrm>
            <a:off x="624505" y="2451512"/>
            <a:ext cx="750488" cy="7566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5108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C316-C8C1-C800-DD48-15FE4F0E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gital Connections">
            <a:extLst>
              <a:ext uri="{FF2B5EF4-FFF2-40B4-BE49-F238E27FC236}">
                <a16:creationId xmlns:a16="http://schemas.microsoft.com/office/drawing/2014/main" id="{5FD7E1E7-F42B-7428-A8A9-6F0BFAB428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429802" y="676723"/>
            <a:ext cx="11332395" cy="20767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1CEF17-C8D6-8B59-606E-F3F53976F7B3}"/>
              </a:ext>
            </a:extLst>
          </p:cNvPr>
          <p:cNvSpPr txBox="1"/>
          <p:nvPr/>
        </p:nvSpPr>
        <p:spPr>
          <a:xfrm>
            <a:off x="429802" y="3429000"/>
            <a:ext cx="53742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Look for:</a:t>
            </a:r>
          </a:p>
          <a:p>
            <a:r>
              <a:rPr lang="en-US" dirty="0"/>
              <a:t>Unknow sender </a:t>
            </a:r>
          </a:p>
          <a:p>
            <a:r>
              <a:rPr lang="en-US" dirty="0"/>
              <a:t>Spelling mistake </a:t>
            </a:r>
          </a:p>
          <a:p>
            <a:r>
              <a:rPr lang="en-US" dirty="0"/>
              <a:t>Urgent requests</a:t>
            </a:r>
          </a:p>
          <a:p>
            <a:r>
              <a:rPr lang="en-US" dirty="0"/>
              <a:t>Suspicious links</a:t>
            </a:r>
          </a:p>
          <a:p>
            <a:r>
              <a:rPr lang="en-US" dirty="0"/>
              <a:t>Unexpected attachments</a:t>
            </a:r>
          </a:p>
          <a:p>
            <a:endParaRPr lang="en-US" dirty="0"/>
          </a:p>
          <a:p>
            <a:r>
              <a:rPr lang="en-US" dirty="0"/>
              <a:t>Never trust an email just because it looks professional.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FF5FE-AB00-D6A7-D485-FEC4F1651CBB}"/>
              </a:ext>
            </a:extLst>
          </p:cNvPr>
          <p:cNvSpPr txBox="1"/>
          <p:nvPr/>
        </p:nvSpPr>
        <p:spPr>
          <a:xfrm>
            <a:off x="473619" y="803534"/>
            <a:ext cx="6668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How to recognize a phishing Email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FD681-867F-A2AB-36F7-9DA3D8321F85}"/>
              </a:ext>
            </a:extLst>
          </p:cNvPr>
          <p:cNvSpPr txBox="1"/>
          <p:nvPr/>
        </p:nvSpPr>
        <p:spPr>
          <a:xfrm>
            <a:off x="6323799" y="3429000"/>
            <a:ext cx="4899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of phishing Email</a:t>
            </a:r>
          </a:p>
          <a:p>
            <a:r>
              <a:rPr lang="en-US" dirty="0"/>
              <a:t>Subject: Your Account Will Be Locked</a:t>
            </a:r>
          </a:p>
          <a:p>
            <a:r>
              <a:rPr lang="en-US" dirty="0"/>
              <a:t>“Click here immediately to verify your account.”</a:t>
            </a:r>
          </a:p>
          <a:p>
            <a:r>
              <a:rPr lang="en-US" b="1" dirty="0"/>
              <a:t>Waring Signs:</a:t>
            </a:r>
          </a:p>
          <a:p>
            <a:r>
              <a:rPr lang="en-US" dirty="0"/>
              <a:t>Creates panic</a:t>
            </a:r>
          </a:p>
          <a:p>
            <a:r>
              <a:rPr lang="en-US" dirty="0"/>
              <a:t>Ask for personal information</a:t>
            </a:r>
          </a:p>
          <a:p>
            <a:r>
              <a:rPr lang="en-US" dirty="0"/>
              <a:t>Suspicious link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6431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gital Connections">
            <a:extLst>
              <a:ext uri="{FF2B5EF4-FFF2-40B4-BE49-F238E27FC236}">
                <a16:creationId xmlns:a16="http://schemas.microsoft.com/office/drawing/2014/main" id="{5A899F82-E8CF-763F-D167-52C9368FE8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-44918" y="0"/>
            <a:ext cx="1219198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F144F5-1879-0C55-C944-8A40EEF7ECCE}"/>
              </a:ext>
            </a:extLst>
          </p:cNvPr>
          <p:cNvSpPr txBox="1"/>
          <p:nvPr/>
        </p:nvSpPr>
        <p:spPr>
          <a:xfrm>
            <a:off x="244107" y="731520"/>
            <a:ext cx="5791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What is a Fake Website?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 fake website is designed to look like a legitimate website.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Purpose:</a:t>
            </a:r>
          </a:p>
          <a:p>
            <a:r>
              <a:rPr lang="en-US" sz="2400" dirty="0">
                <a:solidFill>
                  <a:schemeClr val="bg1"/>
                </a:solidFill>
              </a:rPr>
              <a:t>To trick users into entering: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Usernames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Passwords</a:t>
            </a:r>
          </a:p>
          <a:p>
            <a:r>
              <a:rPr lang="en-US" sz="2400" dirty="0">
                <a:solidFill>
                  <a:schemeClr val="bg1"/>
                </a:solidFill>
              </a:rPr>
              <a:t>Banking information</a:t>
            </a:r>
          </a:p>
          <a:p>
            <a:endParaRPr lang="en-PK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706C06-2704-37E3-3A97-29425A591FBD}"/>
              </a:ext>
            </a:extLst>
          </p:cNvPr>
          <p:cNvSpPr txBox="1"/>
          <p:nvPr/>
        </p:nvSpPr>
        <p:spPr>
          <a:xfrm>
            <a:off x="5938787" y="731520"/>
            <a:ext cx="6750517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How to Identify Fake Websites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Check:</a:t>
            </a:r>
          </a:p>
          <a:p>
            <a:r>
              <a:rPr lang="en-US" sz="2400" dirty="0">
                <a:solidFill>
                  <a:schemeClr val="bg1"/>
                </a:solidFill>
              </a:rPr>
              <a:t>✔ Website URL</a:t>
            </a:r>
          </a:p>
          <a:p>
            <a:r>
              <a:rPr lang="en-US" sz="2400" dirty="0">
                <a:solidFill>
                  <a:schemeClr val="bg1"/>
                </a:solidFill>
              </a:rPr>
              <a:t>✔ HTTPS Security</a:t>
            </a:r>
          </a:p>
          <a:p>
            <a:r>
              <a:rPr lang="en-US" sz="2400" dirty="0">
                <a:solidFill>
                  <a:schemeClr val="bg1"/>
                </a:solidFill>
              </a:rPr>
              <a:t>✔ Company Contact Information</a:t>
            </a:r>
          </a:p>
          <a:p>
            <a:r>
              <a:rPr lang="en-US" sz="2400" dirty="0">
                <a:solidFill>
                  <a:schemeClr val="bg1"/>
                </a:solidFill>
              </a:rPr>
              <a:t>✔ Spelling Errors</a:t>
            </a:r>
          </a:p>
          <a:p>
            <a:r>
              <a:rPr lang="en-US" sz="2400" dirty="0">
                <a:solidFill>
                  <a:schemeClr val="bg1"/>
                </a:solidFill>
              </a:rPr>
              <a:t>✔ Website Design Quality</a:t>
            </a:r>
            <a:endParaRPr lang="en-PK" sz="2400" dirty="0">
              <a:solidFill>
                <a:schemeClr val="bg1"/>
              </a:solidFill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0792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D428-2DE0-355C-899D-D763F336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social engineering?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00401-9443-F370-7CF2-B4579A12119D}"/>
              </a:ext>
            </a:extLst>
          </p:cNvPr>
          <p:cNvSpPr txBox="1"/>
          <p:nvPr/>
        </p:nvSpPr>
        <p:spPr>
          <a:xfrm>
            <a:off x="575894" y="2367815"/>
            <a:ext cx="755583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Social Engineering?</a:t>
            </a:r>
          </a:p>
          <a:p>
            <a:r>
              <a:rPr lang="en-US" dirty="0"/>
              <a:t>Social engineering is a technique where attackers manipulate people into revealing confidential information.</a:t>
            </a:r>
          </a:p>
          <a:p>
            <a:r>
              <a:rPr lang="en-US" dirty="0"/>
              <a:t>Instead of hacking computers,</a:t>
            </a:r>
          </a:p>
          <a:p>
            <a:r>
              <a:rPr lang="en-US" dirty="0"/>
              <a:t>they hack human emotions.</a:t>
            </a:r>
          </a:p>
          <a:p>
            <a:r>
              <a:rPr lang="en-US" sz="2400" b="1" dirty="0"/>
              <a:t>Common Social Engineering Tactics</a:t>
            </a:r>
          </a:p>
          <a:p>
            <a:r>
              <a:rPr lang="en-US" b="1" dirty="0"/>
              <a:t>Fear</a:t>
            </a:r>
          </a:p>
          <a:p>
            <a:r>
              <a:rPr lang="en-US" dirty="0"/>
              <a:t>"Your account will be closed."</a:t>
            </a:r>
          </a:p>
          <a:p>
            <a:r>
              <a:rPr lang="en-US" b="1" dirty="0"/>
              <a:t>Urgency</a:t>
            </a:r>
          </a:p>
          <a:p>
            <a:r>
              <a:rPr lang="en-US" dirty="0"/>
              <a:t>"Act now!"</a:t>
            </a:r>
          </a:p>
          <a:p>
            <a:r>
              <a:rPr lang="en-US" b="1" dirty="0"/>
              <a:t>Curiosity</a:t>
            </a:r>
          </a:p>
          <a:p>
            <a:r>
              <a:rPr lang="en-US" dirty="0"/>
              <a:t>"See who viewed your profile."</a:t>
            </a:r>
          </a:p>
          <a:p>
            <a:r>
              <a:rPr lang="en-US" b="1" dirty="0"/>
              <a:t>Rewards</a:t>
            </a:r>
          </a:p>
          <a:p>
            <a:r>
              <a:rPr lang="en-US" dirty="0"/>
              <a:t>"You won a free gift."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7176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78E2-05D4-1CAA-E8DC-7623C742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DAF4-015B-9824-5BA8-6C70AFA35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examples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5DBB87-A514-A31C-5BA2-C4911F82D462}"/>
              </a:ext>
            </a:extLst>
          </p:cNvPr>
          <p:cNvSpPr txBox="1"/>
          <p:nvPr/>
        </p:nvSpPr>
        <p:spPr>
          <a:xfrm>
            <a:off x="585519" y="2387066"/>
            <a:ext cx="755583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1. Fake Bank Email</a:t>
            </a:r>
          </a:p>
          <a:p>
            <a:r>
              <a:rPr lang="en-US" dirty="0"/>
              <a:t>Victims receive an email claiming there is suspicious activity in their account.</a:t>
            </a:r>
          </a:p>
          <a:p>
            <a:r>
              <a:rPr lang="en-US" dirty="0"/>
              <a:t>They click the link and enter login details.</a:t>
            </a:r>
          </a:p>
          <a:p>
            <a:r>
              <a:rPr lang="en-US" b="1" dirty="0"/>
              <a:t>Result:</a:t>
            </a:r>
          </a:p>
          <a:p>
            <a:r>
              <a:rPr lang="en-US" dirty="0"/>
              <a:t>Credentials stolen</a:t>
            </a:r>
          </a:p>
          <a:p>
            <a:r>
              <a:rPr lang="en-US" dirty="0"/>
              <a:t>Bank account compromised</a:t>
            </a:r>
          </a:p>
          <a:p>
            <a:r>
              <a:rPr lang="en-US" sz="2400" b="1" dirty="0"/>
              <a:t>2. Delivery Scam</a:t>
            </a:r>
          </a:p>
          <a:p>
            <a:r>
              <a:rPr lang="en-US" dirty="0"/>
              <a:t>Victim receives a text:</a:t>
            </a:r>
          </a:p>
          <a:p>
            <a:r>
              <a:rPr lang="en-US" dirty="0"/>
              <a:t>"Your package delivery failed. Click here."</a:t>
            </a:r>
          </a:p>
          <a:p>
            <a:r>
              <a:rPr lang="en-US" b="1" dirty="0"/>
              <a:t>After clicking:</a:t>
            </a:r>
          </a:p>
          <a:p>
            <a:r>
              <a:rPr lang="en-US" dirty="0"/>
              <a:t>Malware may install</a:t>
            </a:r>
          </a:p>
          <a:p>
            <a:r>
              <a:rPr lang="en-US" dirty="0"/>
              <a:t>Personal data may be stolen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99459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8CE0-0D7C-76A5-06DC-71F73F6B7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78706-B090-829A-4CF6-47859D874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6ECE7-6A41-006C-7A0D-150EDCD18858}"/>
              </a:ext>
            </a:extLst>
          </p:cNvPr>
          <p:cNvSpPr txBox="1"/>
          <p:nvPr/>
        </p:nvSpPr>
        <p:spPr>
          <a:xfrm>
            <a:off x="412266" y="2002056"/>
            <a:ext cx="60751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Strong Passwords</a:t>
            </a:r>
          </a:p>
          <a:p>
            <a:r>
              <a:rPr lang="en-US" dirty="0"/>
              <a:t>Use:</a:t>
            </a:r>
          </a:p>
          <a:p>
            <a:r>
              <a:rPr lang="en-US" dirty="0"/>
              <a:t>Long passwords</a:t>
            </a:r>
          </a:p>
          <a:p>
            <a:r>
              <a:rPr lang="en-US" dirty="0"/>
              <a:t>Uppercase and lowercase letters</a:t>
            </a:r>
          </a:p>
          <a:p>
            <a:r>
              <a:rPr lang="en-US" dirty="0"/>
              <a:t>Numbers</a:t>
            </a:r>
          </a:p>
          <a:p>
            <a:r>
              <a:rPr lang="en-US" dirty="0"/>
              <a:t>Special symbols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name@2026#Safe</a:t>
            </a:r>
          </a:p>
          <a:p>
            <a:endParaRPr lang="en-US" dirty="0"/>
          </a:p>
          <a:p>
            <a:r>
              <a:rPr lang="en-US" b="1" dirty="0"/>
              <a:t>Multi-Factor Authentication (MFA)</a:t>
            </a:r>
          </a:p>
          <a:p>
            <a:r>
              <a:rPr lang="en-US" dirty="0"/>
              <a:t>MFA adds an extra security layer.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Enter password</a:t>
            </a:r>
          </a:p>
          <a:p>
            <a:r>
              <a:rPr lang="en-US" dirty="0"/>
              <a:t>Enter code sent to phone</a:t>
            </a:r>
          </a:p>
          <a:p>
            <a:r>
              <a:rPr lang="en-US" dirty="0"/>
              <a:t>Even if attackers know your password, they cannot easily access your account.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EEDE08-3CBB-E326-B6F1-1BFC488303F9}"/>
              </a:ext>
            </a:extLst>
          </p:cNvPr>
          <p:cNvSpPr txBox="1"/>
          <p:nvPr/>
        </p:nvSpPr>
        <p:spPr>
          <a:xfrm>
            <a:off x="6718434" y="2002056"/>
            <a:ext cx="47086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Verify Before Clicking</a:t>
            </a:r>
          </a:p>
          <a:p>
            <a:r>
              <a:rPr lang="en-US" dirty="0"/>
              <a:t>Before clicking:</a:t>
            </a:r>
          </a:p>
          <a:p>
            <a:r>
              <a:rPr lang="en-US" dirty="0"/>
              <a:t>Check sender email</a:t>
            </a:r>
          </a:p>
          <a:p>
            <a:r>
              <a:rPr lang="en-US" dirty="0"/>
              <a:t>Hover over links</a:t>
            </a:r>
          </a:p>
          <a:p>
            <a:r>
              <a:rPr lang="en-US" dirty="0"/>
              <a:t>Visit official websites directly</a:t>
            </a:r>
          </a:p>
          <a:p>
            <a:r>
              <a:rPr lang="en-US" dirty="0"/>
              <a:t>Rule:</a:t>
            </a:r>
          </a:p>
          <a:p>
            <a:r>
              <a:rPr lang="en-US" dirty="0"/>
              <a:t>Think Before You Click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2710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9DB6E5-CDA2-6146-86AF-4367D3CC79AC}"/>
              </a:ext>
            </a:extLst>
          </p:cNvPr>
          <p:cNvSpPr txBox="1"/>
          <p:nvPr/>
        </p:nvSpPr>
        <p:spPr>
          <a:xfrm>
            <a:off x="429802" y="2047166"/>
            <a:ext cx="531314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To Do If You Become a Victim</a:t>
            </a:r>
          </a:p>
          <a:p>
            <a:r>
              <a:rPr lang="en-US" dirty="0"/>
              <a:t>Immediate Actions:</a:t>
            </a:r>
          </a:p>
          <a:p>
            <a:r>
              <a:rPr lang="en-US" dirty="0"/>
              <a:t>Change passwords</a:t>
            </a:r>
          </a:p>
          <a:p>
            <a:r>
              <a:rPr lang="en-US" dirty="0"/>
              <a:t>Enable MFA</a:t>
            </a:r>
          </a:p>
          <a:p>
            <a:r>
              <a:rPr lang="en-US" dirty="0"/>
              <a:t>Contact your bank</a:t>
            </a:r>
          </a:p>
          <a:p>
            <a:r>
              <a:rPr lang="en-US" dirty="0"/>
              <a:t>Report the incident</a:t>
            </a:r>
          </a:p>
          <a:p>
            <a:r>
              <a:rPr lang="en-US" sz="2400" b="1" dirty="0"/>
              <a:t>Recovery Steps</a:t>
            </a:r>
          </a:p>
          <a:p>
            <a:r>
              <a:rPr lang="en-US" dirty="0"/>
              <a:t>After an Attack:</a:t>
            </a:r>
          </a:p>
          <a:p>
            <a:r>
              <a:rPr lang="en-US" dirty="0"/>
              <a:t>Scan device with antivirus</a:t>
            </a:r>
          </a:p>
          <a:p>
            <a:r>
              <a:rPr lang="en-US" dirty="0"/>
              <a:t>Monitor accounts</a:t>
            </a:r>
          </a:p>
          <a:p>
            <a:r>
              <a:rPr lang="en-US" dirty="0"/>
              <a:t>Inform affected organizations</a:t>
            </a:r>
          </a:p>
          <a:p>
            <a:r>
              <a:rPr lang="en-US" dirty="0"/>
              <a:t>Watch for unusual activity</a:t>
            </a:r>
            <a:endParaRPr lang="en-PK" dirty="0"/>
          </a:p>
          <a:p>
            <a:endParaRPr lang="en-PK" dirty="0"/>
          </a:p>
        </p:txBody>
      </p:sp>
      <p:pic>
        <p:nvPicPr>
          <p:cNvPr id="3" name="Picture 2" descr="Digital Connections">
            <a:extLst>
              <a:ext uri="{FF2B5EF4-FFF2-40B4-BE49-F238E27FC236}">
                <a16:creationId xmlns:a16="http://schemas.microsoft.com/office/drawing/2014/main" id="{A784694C-C4E7-40D0-F12A-7BE67C55F4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429802" y="676722"/>
            <a:ext cx="11332395" cy="10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9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B4344-3E9C-8979-AC5E-8D788EDE6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85252-BDD9-294D-98E5-911200FD36DA}"/>
              </a:ext>
            </a:extLst>
          </p:cNvPr>
          <p:cNvSpPr txBox="1"/>
          <p:nvPr/>
        </p:nvSpPr>
        <p:spPr>
          <a:xfrm>
            <a:off x="429803" y="2047166"/>
            <a:ext cx="36803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 1</a:t>
            </a:r>
          </a:p>
          <a:p>
            <a:endParaRPr lang="en-US" b="1" dirty="0"/>
          </a:p>
          <a:p>
            <a:r>
              <a:rPr lang="en-US" b="1" dirty="0"/>
              <a:t>What is phishing?</a:t>
            </a:r>
          </a:p>
          <a:p>
            <a:r>
              <a:rPr lang="en-US" dirty="0"/>
              <a:t>A.  A type of computer hardware</a:t>
            </a:r>
          </a:p>
          <a:p>
            <a:r>
              <a:rPr lang="en-US" dirty="0"/>
              <a:t>B.  A cyberattack used to steal                                                        sensitive information </a:t>
            </a:r>
          </a:p>
          <a:p>
            <a:r>
              <a:rPr lang="en-US" dirty="0"/>
              <a:t>C.  A software update</a:t>
            </a:r>
          </a:p>
          <a:p>
            <a:r>
              <a:rPr lang="en-US" dirty="0"/>
              <a:t>D.  A security tool</a:t>
            </a:r>
          </a:p>
          <a:p>
            <a:r>
              <a:rPr lang="en-US" dirty="0"/>
              <a:t>Answer: B</a:t>
            </a:r>
            <a:endParaRPr lang="en-PK" dirty="0"/>
          </a:p>
        </p:txBody>
      </p:sp>
      <p:pic>
        <p:nvPicPr>
          <p:cNvPr id="3" name="Picture 2" descr="Digital Connections">
            <a:extLst>
              <a:ext uri="{FF2B5EF4-FFF2-40B4-BE49-F238E27FC236}">
                <a16:creationId xmlns:a16="http://schemas.microsoft.com/office/drawing/2014/main" id="{A869779D-82EA-735A-436A-513CD74B0C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429803" y="662656"/>
            <a:ext cx="11332395" cy="10966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0927E8-B0A8-BF94-30CB-AC4BAAA5B216}"/>
              </a:ext>
            </a:extLst>
          </p:cNvPr>
          <p:cNvSpPr txBox="1"/>
          <p:nvPr/>
        </p:nvSpPr>
        <p:spPr>
          <a:xfrm>
            <a:off x="3921148" y="2047166"/>
            <a:ext cx="39112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 2</a:t>
            </a:r>
          </a:p>
          <a:p>
            <a:endParaRPr lang="en-US" b="1" dirty="0"/>
          </a:p>
          <a:p>
            <a:r>
              <a:rPr lang="en-US" b="1" dirty="0"/>
              <a:t>Which of the following is a common sign of a phishing email?</a:t>
            </a:r>
          </a:p>
          <a:p>
            <a:r>
              <a:rPr lang="en-US" dirty="0"/>
              <a:t>A. Personalized greeting</a:t>
            </a:r>
          </a:p>
          <a:p>
            <a:r>
              <a:rPr lang="en-US" dirty="0"/>
              <a:t>B. Professional email signature</a:t>
            </a:r>
          </a:p>
          <a:p>
            <a:r>
              <a:rPr lang="en-US" dirty="0"/>
              <a:t>C. Urgent request for immediate action </a:t>
            </a:r>
          </a:p>
          <a:p>
            <a:r>
              <a:rPr lang="en-US" dirty="0"/>
              <a:t>D. Official company logo</a:t>
            </a:r>
          </a:p>
          <a:p>
            <a:r>
              <a:rPr lang="en-US" dirty="0"/>
              <a:t>Answer: C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7D15F-3616-086F-596C-9E15A557286F}"/>
              </a:ext>
            </a:extLst>
          </p:cNvPr>
          <p:cNvSpPr txBox="1"/>
          <p:nvPr/>
        </p:nvSpPr>
        <p:spPr>
          <a:xfrm rot="10800000" flipV="1">
            <a:off x="8081819" y="2047166"/>
            <a:ext cx="39211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 3</a:t>
            </a:r>
          </a:p>
          <a:p>
            <a:endParaRPr lang="en-US" b="1" dirty="0"/>
          </a:p>
          <a:p>
            <a:r>
              <a:rPr lang="en-US" b="1" dirty="0"/>
              <a:t>What information do attackers commonly try to steal through phishing?</a:t>
            </a:r>
          </a:p>
          <a:p>
            <a:r>
              <a:rPr lang="en-US" dirty="0"/>
              <a:t>A. Passwords </a:t>
            </a:r>
          </a:p>
          <a:p>
            <a:r>
              <a:rPr lang="en-US" dirty="0"/>
              <a:t>B. Banking details </a:t>
            </a:r>
          </a:p>
          <a:p>
            <a:r>
              <a:rPr lang="en-US" dirty="0"/>
              <a:t>C. Personal information </a:t>
            </a:r>
          </a:p>
          <a:p>
            <a:r>
              <a:rPr lang="en-US" dirty="0"/>
              <a:t>D. All of the above </a:t>
            </a:r>
          </a:p>
          <a:p>
            <a:r>
              <a:rPr lang="en-US" dirty="0"/>
              <a:t>Answer: D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ECDBC-402E-12FE-7446-AFCDA7BC0292}"/>
              </a:ext>
            </a:extLst>
          </p:cNvPr>
          <p:cNvSpPr txBox="1"/>
          <p:nvPr/>
        </p:nvSpPr>
        <p:spPr>
          <a:xfrm>
            <a:off x="794327" y="918597"/>
            <a:ext cx="5301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INTERACTIVE QUIZ</a:t>
            </a:r>
            <a:endParaRPr lang="en-PK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874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0773D-95A5-65F9-3A79-F85A0FA7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6688B3-3123-EDC4-2A36-CDA59CC700EC}"/>
              </a:ext>
            </a:extLst>
          </p:cNvPr>
          <p:cNvSpPr txBox="1"/>
          <p:nvPr/>
        </p:nvSpPr>
        <p:spPr>
          <a:xfrm>
            <a:off x="429803" y="2047166"/>
            <a:ext cx="36803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 4</a:t>
            </a:r>
          </a:p>
          <a:p>
            <a:endParaRPr lang="en-US" b="1" dirty="0"/>
          </a:p>
          <a:p>
            <a:r>
              <a:rPr lang="en-US" b="1" dirty="0"/>
              <a:t>What should you do before clicking a link in an email?</a:t>
            </a:r>
          </a:p>
          <a:p>
            <a:r>
              <a:rPr lang="en-US" dirty="0"/>
              <a:t>A. Click immediately</a:t>
            </a:r>
          </a:p>
          <a:p>
            <a:r>
              <a:rPr lang="en-US" dirty="0"/>
              <a:t>B. Verify the sender and inspect the URL </a:t>
            </a:r>
          </a:p>
          <a:p>
            <a:r>
              <a:rPr lang="en-US" dirty="0"/>
              <a:t>C. Forward it to friends</a:t>
            </a:r>
          </a:p>
          <a:p>
            <a:r>
              <a:rPr lang="en-US" dirty="0"/>
              <a:t>D. Ignore all emails</a:t>
            </a:r>
          </a:p>
          <a:p>
            <a:r>
              <a:rPr lang="en-US" dirty="0"/>
              <a:t>Answer: </a:t>
            </a:r>
            <a:r>
              <a:rPr lang="en-US" b="1" dirty="0"/>
              <a:t>B</a:t>
            </a:r>
            <a:endParaRPr lang="en-PK" b="1" dirty="0"/>
          </a:p>
        </p:txBody>
      </p:sp>
      <p:pic>
        <p:nvPicPr>
          <p:cNvPr id="3" name="Picture 2" descr="Digital Connections">
            <a:extLst>
              <a:ext uri="{FF2B5EF4-FFF2-40B4-BE49-F238E27FC236}">
                <a16:creationId xmlns:a16="http://schemas.microsoft.com/office/drawing/2014/main" id="{1DDB9A09-B1A5-8447-0DEA-1D0F40041B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429803" y="662656"/>
            <a:ext cx="11332395" cy="10966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F85415-FACF-8C97-F5F4-C8734CC49BAC}"/>
              </a:ext>
            </a:extLst>
          </p:cNvPr>
          <p:cNvSpPr txBox="1"/>
          <p:nvPr/>
        </p:nvSpPr>
        <p:spPr>
          <a:xfrm>
            <a:off x="4110182" y="2047166"/>
            <a:ext cx="39112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 5</a:t>
            </a:r>
          </a:p>
          <a:p>
            <a:endParaRPr lang="en-US" b="1" dirty="0"/>
          </a:p>
          <a:p>
            <a:r>
              <a:rPr lang="en-US" b="1" dirty="0"/>
              <a:t>What does HTTPS indicate?</a:t>
            </a:r>
          </a:p>
          <a:p>
            <a:r>
              <a:rPr lang="en-US" dirty="0"/>
              <a:t>A. The website is completely safe</a:t>
            </a:r>
          </a:p>
          <a:p>
            <a:r>
              <a:rPr lang="en-US" dirty="0"/>
              <a:t>B. The connection is encrypted </a:t>
            </a:r>
          </a:p>
          <a:p>
            <a:r>
              <a:rPr lang="en-US" dirty="0"/>
              <a:t>C. The website is government-approved</a:t>
            </a:r>
          </a:p>
          <a:p>
            <a:r>
              <a:rPr lang="en-US" dirty="0"/>
              <a:t>D. The website cannot be fake</a:t>
            </a:r>
          </a:p>
          <a:p>
            <a:r>
              <a:rPr lang="en-US" dirty="0"/>
              <a:t>Answer:</a:t>
            </a:r>
            <a:r>
              <a:rPr lang="en-US" b="1" dirty="0"/>
              <a:t> B</a:t>
            </a:r>
            <a:endParaRPr lang="en-PK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04764-2C52-115E-9C39-3B9F9DD18BFB}"/>
              </a:ext>
            </a:extLst>
          </p:cNvPr>
          <p:cNvSpPr txBox="1"/>
          <p:nvPr/>
        </p:nvSpPr>
        <p:spPr>
          <a:xfrm rot="10800000" flipV="1">
            <a:off x="8081819" y="2047166"/>
            <a:ext cx="39211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 6</a:t>
            </a:r>
          </a:p>
          <a:p>
            <a:endParaRPr lang="en-US" b="1" dirty="0"/>
          </a:p>
          <a:p>
            <a:r>
              <a:rPr lang="en-US" b="1" dirty="0"/>
              <a:t>Which attack uses text messages to trick victims?</a:t>
            </a:r>
          </a:p>
          <a:p>
            <a:r>
              <a:rPr lang="en-US" dirty="0"/>
              <a:t>A. Vishing</a:t>
            </a:r>
          </a:p>
          <a:p>
            <a:r>
              <a:rPr lang="en-US" dirty="0"/>
              <a:t>B. Spear Phishing</a:t>
            </a:r>
          </a:p>
          <a:p>
            <a:r>
              <a:rPr lang="en-US" dirty="0"/>
              <a:t>C. Smishing </a:t>
            </a:r>
          </a:p>
          <a:p>
            <a:r>
              <a:rPr lang="en-US" dirty="0"/>
              <a:t>D. Whaling</a:t>
            </a:r>
          </a:p>
          <a:p>
            <a:r>
              <a:rPr lang="en-US" dirty="0"/>
              <a:t>Answer: </a:t>
            </a:r>
            <a:r>
              <a:rPr lang="en-US" b="1" dirty="0"/>
              <a:t>C</a:t>
            </a:r>
            <a:endParaRPr lang="en-PK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9D039-6220-840F-58C1-DBE7B4A2B725}"/>
              </a:ext>
            </a:extLst>
          </p:cNvPr>
          <p:cNvSpPr txBox="1"/>
          <p:nvPr/>
        </p:nvSpPr>
        <p:spPr>
          <a:xfrm>
            <a:off x="794327" y="918597"/>
            <a:ext cx="5301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INTERACTIVE QUIZ</a:t>
            </a:r>
            <a:endParaRPr lang="en-PK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356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EA135C-4E9B-CB02-357C-93FB1FB3B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2" y="1309036"/>
            <a:ext cx="7632683" cy="482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1208</TotalTime>
  <Words>744</Words>
  <Application>Microsoft Office PowerPoint</Application>
  <PresentationFormat>Widescreen</PresentationFormat>
  <Paragraphs>181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Gill Sans MT</vt:lpstr>
      <vt:lpstr>Wingdings 2</vt:lpstr>
      <vt:lpstr>Custom</vt:lpstr>
      <vt:lpstr>Phishing awareness training</vt:lpstr>
      <vt:lpstr>PowerPoint Presentation</vt:lpstr>
      <vt:lpstr>What is Phishing?</vt:lpstr>
      <vt:lpstr>Why Do Attackers Use Phishing?</vt:lpstr>
      <vt:lpstr>PowerPoint Presentation</vt:lpstr>
      <vt:lpstr>Other types of phishing</vt:lpstr>
      <vt:lpstr>PowerPoint Presentation</vt:lpstr>
      <vt:lpstr>PowerPoint Presentation</vt:lpstr>
      <vt:lpstr>What is social engineering?</vt:lpstr>
      <vt:lpstr>Real life examples</vt:lpstr>
      <vt:lpstr>Best practice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 butt</dc:creator>
  <cp:lastModifiedBy>kamal butt</cp:lastModifiedBy>
  <cp:revision>2</cp:revision>
  <dcterms:created xsi:type="dcterms:W3CDTF">2026-06-05T12:44:37Z</dcterms:created>
  <dcterms:modified xsi:type="dcterms:W3CDTF">2026-06-06T08:56:34Z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